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201319"/>
    <p:sldId id="267" r:id="rId201320"/>
    <p:sldId id="268" r:id="rId201321"/>
    <p:sldId id="269" r:id="rId201322"/>
    <p:sldId id="270" r:id="rId201323"/>
  </p:sldIdLst>
  <p:notesMasterIdLst>
    <p:notesMasterId r:id="rId12"/>
  </p:notesMasterIdLst>
  <p:sldSz cx="12191695" cy="6858000"/>
  <p:notesSz cx="6858000" cy="12191695"/>
  <p:embeddedFontLst>
    <p:embeddedFont>
      <p:font typeface="DM Mono"/>
      <p:regular r:id="rId201314"/>
    </p:embeddedFont>
    <p:embeddedFont>
      <p:font typeface="Hanken Grotesk ExtraLight"/>
      <p:regular r:id="rId201315"/>
    </p:embeddedFont>
    <p:embeddedFont>
      <p:font typeface="Hanken Grotesk Light"/>
      <p:regular r:id="rId201316"/>
    </p:embeddedFont>
    <p:embeddedFont>
      <p:font typeface="Hanken Grotesk"/>
      <p:regular r:id="rId201317"/>
    </p:embeddedFont>
    <p:embeddedFont>
      <p:font typeface="Hanken Grotesk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  <Relationship Id="rId201319" Type="http://schemas.openxmlformats.org/officeDocument/2006/relationships/slide" Target="slides/slide11.xml"/>
  <Relationship Id="rId201320" Type="http://schemas.openxmlformats.org/officeDocument/2006/relationships/slide" Target="slides/slide12.xml"/>
  <Relationship Id="rId201321" Type="http://schemas.openxmlformats.org/officeDocument/2006/relationships/slide" Target="slides/slide13.xml"/>
  <Relationship Id="rId201322" Type="http://schemas.openxmlformats.org/officeDocument/2006/relationships/slide" Target="slides/slide14.xml"/>
  <Relationship Id="rId201323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3.png"/><Relationship Id="rId8" Type="http://schemas.openxmlformats.org/officeDocument/2006/relationships/image" Target="../media/image-8-4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704532"/>
            <a:ext cx="6212724" cy="1121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9600" spc="192" kern="100" dirty="0">
                <a:solidFill>
                  <a:srgbClr val="141414"/>
                </a:solidFill>
                <a:latin typeface="Hanken Grotesk ExtraLight" pitchFamily="34" charset="0"/>
                <a:ea typeface="Hanken Grotesk ExtraLight" pitchFamily="34" charset="-122"/>
                <a:cs typeface="Hanken Grotesk ExtraLight" pitchFamily="34" charset="-120"/>
              </a:rPr>
              <a:t>CLOGGED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09585" y="6048375"/>
            <a:ext cx="68223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84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PUNE TRAFFIC ANALYSIS, FORECASTING AND VISUALIZATION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888983" y="0"/>
            <a:ext cx="4302712" cy="6858000"/>
          </a:xfrm>
          <a:prstGeom prst="rect">
            <a:avLst/>
          </a:prstGeom>
          <a:noFill/>
          <a:ln w="6350">
            <a:solidFill>
              <a:srgbClr val="C8C5B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0125" y="1778000"/>
            <a:ext cx="3301917" cy="3302000"/>
          </a:xfrm>
          <a:prstGeom prst="rect">
            <a:avLst/>
          </a:prstGeom>
        </p:spPr>
      </p:pic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Introduction / Background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255117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6800" y="1219002"/>
            <a:ext cx="10645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Road-level 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36800" y="1647627"/>
            <a:ext cx="10645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CLOGGED is a web dashboard for road-level congestion across Pune’s city core.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3083917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6800" y="3047802"/>
            <a:ext cx="10645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Two time horizons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6800" y="3476427"/>
            <a:ext cx="10645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supports historical exploration across the past 365 days and forecasting across the next 30 days.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585" y="4912816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6800" y="4876701"/>
            <a:ext cx="10645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Open data, calibrated model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6800" y="5305326"/>
            <a:ext cx="10645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project combines open road geometry with a calibrated congestion model.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585" y="2812852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5" y="4641751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/ 15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52247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2434788"/>
            <a:ext cx="36575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ACCESS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2714129"/>
            <a:ext cx="342891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Road by road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3230066"/>
            <a:ext cx="3428914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Pune lacks a free, public map that shows congestion road by road and hour by hour.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Especially a Bird's Eye view of all the Roads and Segments is missing from all major map provdiders.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95688" y="2434788"/>
            <a:ext cx="34289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95688" y="2714129"/>
            <a:ext cx="320032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Paid APIs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95688" y="3230066"/>
            <a:ext cx="32003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Commercial traffic APIs are paid and rate-limited.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53196" y="2434788"/>
            <a:ext cx="34289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153196" y="2714129"/>
            <a:ext cx="342891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Explore locally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53196" y="3230066"/>
            <a:ext cx="34289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challenge is to provide an explorable city view without paid API keys.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60743" y="2433836"/>
            <a:ext cx="12700" cy="212973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18252" y="2433836"/>
            <a:ext cx="12700" cy="212973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/ 15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324967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6800" y="1299329"/>
            <a:ext cx="333029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UNDERSTAND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36800" y="1680651"/>
            <a:ext cx="3101699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Make patterns visible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36800" y="3690045"/>
            <a:ext cx="310169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Help students, commuters, planners, and researchers understand how traffic behaves.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95688" y="1324967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22903" y="1299329"/>
            <a:ext cx="31016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PROTOTYPE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22903" y="1680651"/>
            <a:ext cx="2873105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Keep it local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822903" y="3120132"/>
            <a:ext cx="28731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 a low-cost prototype that can be explored locally.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53196" y="1324967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80411" y="1299329"/>
            <a:ext cx="31016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DEMONSTRATE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80411" y="1680651"/>
            <a:ext cx="3101699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Model openly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480411" y="3120132"/>
            <a:ext cx="310169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Show how open geographic data and transparent modelling can support urban mobility analysis.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60743" y="1298377"/>
            <a:ext cx="12700" cy="4950023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6" name="Shape 14"/>
          <p:cNvSpPr/>
          <p:nvPr/>
        </p:nvSpPr>
        <p:spPr>
          <a:xfrm>
            <a:off x="7918252" y="1298377"/>
            <a:ext cx="12700" cy="4950023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/ 15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3959606"/>
            <a:ext cx="2514537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28,535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4702175"/>
            <a:ext cx="27431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84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PUNE ROAD SEGMENTS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81310" y="3959606"/>
            <a:ext cx="2285943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24 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581310" y="4702175"/>
            <a:ext cx="25145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84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TIME CONTROL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24442" y="3959606"/>
            <a:ext cx="2285943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365 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324442" y="4702175"/>
            <a:ext cx="25145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84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HISTORICAL VIEW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067573" y="3959606"/>
            <a:ext cx="2514537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30 d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067573" y="4702175"/>
            <a:ext cx="25145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84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FORECAST 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585" y="5291137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6800" y="5257800"/>
            <a:ext cx="10645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Identify slow, gridlocked, and persistently congested roads.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5" y="6015038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6800" y="5981700"/>
            <a:ext cx="10645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 search, locality filtering, road details, and visual summaries.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46366" y="3906838"/>
            <a:ext cx="12700" cy="995363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9498" y="3906838"/>
            <a:ext cx="12700" cy="995363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7" name="Shape 15"/>
          <p:cNvSpPr/>
          <p:nvPr/>
        </p:nvSpPr>
        <p:spPr>
          <a:xfrm>
            <a:off x="8832629" y="3906838"/>
            <a:ext cx="12700" cy="995363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5" y="5746750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/ 15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97729"/>
            <a:ext cx="1097252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Project-named sources and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1678682"/>
            <a:ext cx="365750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NETWORK LAYER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585" y="2025817"/>
            <a:ext cx="3428914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-95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OpenStreetMap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09585" y="2695079"/>
            <a:ext cx="342891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Provides openly licensed road geometry for the network layer.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95688" y="1678682"/>
            <a:ext cx="342891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CALIBRATION ANCHOR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95688" y="2025817"/>
            <a:ext cx="3200320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-95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TomTom Traffic Index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495688" y="3187303"/>
            <a:ext cx="3200320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TomTom Traffic Index — Pune 2025 supplies the calibration anchors used by the model.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53196" y="1678682"/>
            <a:ext cx="342891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APPLICATION LAYER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53196" y="2025817"/>
            <a:ext cx="3428914" cy="9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00" spc="-95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Web mapping stack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153196" y="3187303"/>
            <a:ext cx="3428914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Leaflet supports interactive web mapping, while FastAPI and NumPy support the local service layer.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60743" y="1678682"/>
            <a:ext cx="12700" cy="4569718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8252" y="1678682"/>
            <a:ext cx="12700" cy="4569718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 / 15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3474653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Research / Technical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602978"/>
            <a:ext cx="347465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city-scale traffic view, without hiding the model behind a commercial service.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60497" y="610553"/>
            <a:ext cx="643119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EXISTING TOOLS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60497" y="889893"/>
            <a:ext cx="582161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Commercial tools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60497" y="1405830"/>
            <a:ext cx="64311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Not free or fully transparent for this use case.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497" y="2943086"/>
            <a:ext cx="643119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CLOGGED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60497" y="3222427"/>
            <a:ext cx="5821614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Open prototype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60497" y="3738364"/>
            <a:ext cx="64311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city-scale, road-level interface without a live traffic API.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497" y="5275620"/>
            <a:ext cx="643119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RESEARCH CONTRIBUTION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497" y="5664498"/>
            <a:ext cx="58216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transparent, reproducible model that anyone can inspect, run locally, and extend.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50912" y="2326184"/>
            <a:ext cx="7040783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3" name="Shape 11"/>
          <p:cNvSpPr/>
          <p:nvPr/>
        </p:nvSpPr>
        <p:spPr>
          <a:xfrm>
            <a:off x="5150912" y="4658717"/>
            <a:ext cx="7040783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 / 15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Proposed Approach /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97729"/>
            <a:ext cx="1097252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From open road geometry to an explorable map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85" y="2315468"/>
            <a:ext cx="5397365" cy="14782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6430" y="2690118"/>
            <a:ext cx="500367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spc="-22" kern="100" dirty="0">
                <a:solidFill>
                  <a:srgbClr val="2B2B2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Extract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6430" y="3063478"/>
            <a:ext cx="50036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Extract Pune road geometry from the Geofabrik Western Zone OpenStreetMap data.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4745" y="2048768"/>
            <a:ext cx="5397365" cy="1744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1590" y="2423418"/>
            <a:ext cx="500367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spc="-22" kern="100" dirty="0">
                <a:solidFill>
                  <a:srgbClr val="2B2B2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Assign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381590" y="2796778"/>
            <a:ext cx="50036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Assign free-flow speeds from OSM values or road-class defaults.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585" y="4238228"/>
            <a:ext cx="5397365" cy="14782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30" y="4612878"/>
            <a:ext cx="500367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spc="-22" kern="100" dirty="0">
                <a:solidFill>
                  <a:srgbClr val="2B2B2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Model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06430" y="4986238"/>
            <a:ext cx="50036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Apply weekday/weekend curves, road-class scaling, persistence factors, and deterministic noise.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4745" y="3971528"/>
            <a:ext cx="5397365" cy="17449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81590" y="4346178"/>
            <a:ext cx="500367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spc="-22" kern="100" dirty="0">
                <a:solidFill>
                  <a:srgbClr val="2B2B2B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Render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381590" y="4719538"/>
            <a:ext cx="50036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Serve the model through a local API and render results on an interactive map.</a:t>
            </a:r>
            <a:endParaRPr lang="en-US" sz="1400" dirty="0"/>
          </a:p>
        </p:txBody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16" name="Text 10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 / 15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Technologies / Tools / Techniques Discussed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298377"/>
          <a:ext cx="10972526" cy="914400"/>
        </p:xfrm>
        <a:graphic>
          <a:graphicData uri="http://schemas.openxmlformats.org/drawingml/2006/table">
            <a:tbl>
              <a:tblPr/>
              <a:tblGrid>
                <a:gridCol w="3011511"/>
                <a:gridCol w="3442606"/>
                <a:gridCol w="4289715"/>
                <a:gridCol w="228694"/>
              </a:tblGrid>
              <a:tr h="5270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B6965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Layer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B6965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Technologies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6B6965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Role in the build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Data and model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Python, NumPy, Pandas, Pyrosm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Process road data and calculate congestion values.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Service layer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FastAPI, Uvicorn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Serve the local model through an API.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Interface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HTML, CSS, JavaScript, Leaflet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Render the interactive map and user controls.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Storage and interaction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GeoJSON, NPZ, SVG, canvas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Use flat files, visual summaries, and responsive selection.</a:t>
                      </a: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64008" marR="228594" marT="126997" marB="126997" anchor="ctr">
                    <a:lnL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4663877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84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SPATIAL INDEXING SUPPORTS RESPONSIVE HOVER AND CLICK SELECTION. NO DATABASE IS REQUIRED.</a:t>
            </a:r>
            <a:endParaRPr lang="en-US" sz="1050" dirty="0"/>
          </a:p>
        </p:txBody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5" name="Text 2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 / 15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Key Findings /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3261106"/>
            <a:ext cx="2514537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28,535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4003675"/>
            <a:ext cx="27431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84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SEGMENTS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81310" y="3261106"/>
            <a:ext cx="2285943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1,655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581310" y="4003675"/>
            <a:ext cx="25145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84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ROAD NAMES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24442" y="3261106"/>
            <a:ext cx="2285943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4,698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324442" y="4003675"/>
            <a:ext cx="25145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84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ARTERIAL SEGMENTS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067573" y="3261106"/>
            <a:ext cx="2514537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>18:00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067573" y="4003675"/>
            <a:ext cx="25145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84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EVENING PEAK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585" y="4533900"/>
            <a:ext cx="109725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Four congestion buckets.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Fast moving, moderate, slow, and gridlocked.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585" y="5257800"/>
            <a:ext cx="109725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Peak model value.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The evening peak near 18:00 reaches about 108% congestion.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5" y="5981700"/>
            <a:ext cx="109725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Interpretation.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The internal backtest reports correlation 0.9915 and MAE 0.988%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46366" y="1298377"/>
            <a:ext cx="12700" cy="2905323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9498" y="1298377"/>
            <a:ext cx="12700" cy="2905323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6" name="Shape 14"/>
          <p:cNvSpPr/>
          <p:nvPr/>
        </p:nvSpPr>
        <p:spPr>
          <a:xfrm>
            <a:off x="8832629" y="1298377"/>
            <a:ext cx="12700" cy="2905323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5022850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5" y="5746750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901" name="Page Number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 / 15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 xml:space="preserve">Advantages and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299329"/>
            <a:ext cx="518211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 xml:space="preserve">ADVANTAGES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1887000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36800" y="1851000"/>
            <a:ext cx="48548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Zero cost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6800" y="2279625"/>
            <a:ext cx="485489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Runs on open data with no API keys, rate limits, or recurring fees.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5" y="3026000"/>
            <a:ext cx="5182111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277000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6800" y="3241000"/>
            <a:ext cx="48548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Road-level detail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6800" y="3669625"/>
            <a:ext cx="485489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All 28,535 segments can be explored hour by hour, 365 days back and 30 days ahead.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5" y="4416000"/>
            <a:ext cx="5182111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585" y="4667000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6800" y="4631000"/>
            <a:ext cx="48548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Lightweight and repeatable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6800" y="5059625"/>
            <a:ext cx="485489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Two flat files and a single command. The same date and hour always give the same result.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000" y="1299329"/>
            <a:ext cx="518211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 xml:space="preserve">LIMITATIONS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000" y="1887000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27215" y="1851000"/>
            <a:ext cx="48548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Modelled, not measured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7215" y="2279625"/>
            <a:ext cx="485489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Congestion comes from a calibrated formula, not from sensors or probe vehicles.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000" y="3026000"/>
            <a:ext cx="5182111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000" y="3277000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27215" y="3241000"/>
            <a:ext cx="48548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Self-consistency backtest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27215" y="3669625"/>
            <a:ext cx="485489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The r ≈ 0.99 and MAE ≈ 1% compare the model with itself, not with real traffic.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000" y="4416000"/>
            <a:ext cx="5182111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000" y="4667000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27215" y="4631000"/>
            <a:ext cx="48548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Approximate inputs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27215" y="5059625"/>
            <a:ext cx="4854896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Free-flow speeds are mostly class defaults, and the junction bottleneck flag is not yet active.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96000" y="1298377"/>
            <a:ext cx="12700" cy="45600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28" name="Text 26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 xml:space="preserve">11 / 15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 xml:space="preserve">Applications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324967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6800" y="1299329"/>
            <a:ext cx="31016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 xml:space="preserve">EDUCATION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36800" y="1680651"/>
            <a:ext cx="3101699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 xml:space="preserve">Teach with maps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36800" y="3690045"/>
            <a:ext cx="3101699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Show students how open geographic data and a transparent model can describe urban traffic.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95688" y="1324967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22903" y="1299329"/>
            <a:ext cx="31016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 xml:space="preserve">COMMUTERS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22903" y="1680651"/>
            <a:ext cx="3101699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 xml:space="preserve">Spot the peaks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822903" y="3690045"/>
            <a:ext cx="2873105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Compare weekday and weekend patterns to see when and where Pune’s roads slow down.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53196" y="1324967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80411" y="1299329"/>
            <a:ext cx="31016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 xml:space="preserve">PLANNING AND RESEARCH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80411" y="1680651"/>
            <a:ext cx="3101699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 xml:space="preserve">Prototype ideas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480411" y="3690045"/>
            <a:ext cx="2873105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Use the map as a low-cost testbed for bottleneck and persistent-congestion studies.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60743" y="1298377"/>
            <a:ext cx="12700" cy="35000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6" name="Shape 14"/>
          <p:cNvSpPr/>
          <p:nvPr/>
        </p:nvSpPr>
        <p:spPr>
          <a:xfrm>
            <a:off x="7918252" y="1298377"/>
            <a:ext cx="12700" cy="35000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7" name="Text 15"/>
          <p:cNvSpPr/>
          <p:nvPr/>
        </p:nvSpPr>
        <p:spPr>
          <a:xfrm>
            <a:off x="609585" y="5430000"/>
            <a:ext cx="109725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 xml:space="preserve">BUILT ON OPEN DATA TO MAKE PUNE’S TRAFFIC PATTERNS EASY TO EXPLORE.</a:t>
            </a:r>
            <a:endParaRPr lang="en-US" sz="1050" dirty="0"/>
          </a:p>
        </p:txBody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 xml:space="preserve">12 / 15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 xml:space="preserve">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255115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6800" y="1219002"/>
            <a:ext cx="10645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Real probe data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36800" y="1647627"/>
            <a:ext cx="1064531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Calibrate and validate the model against measured traffic from sensors or probe vehicles.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239002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545115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6800" y="2509002"/>
            <a:ext cx="10645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Fix junction detection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6800" y="2937627"/>
            <a:ext cx="1064531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Add node columns to the road table so junction bottlenecks are flagged and the peak bump takes effect.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3529002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1" name="Text 9"/>
          <p:cNvSpPr/>
          <p:nvPr/>
        </p:nvSpPr>
        <p:spPr>
          <a:xfrm>
            <a:off x="609585" y="3835115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6800" y="3799002"/>
            <a:ext cx="10645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Smarter road grouping and coverage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6800" y="4227627"/>
            <a:ext cx="1064531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Reduce large same-named groups of unnamed roads and add more localities beyond the current 18.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585" y="4819002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5125115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6800" y="5089002"/>
            <a:ext cx="106453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141414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Time-aware routing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6800" y="5517627"/>
            <a:ext cx="1064531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Use the congestion model to estimate travel times and suggest routes.</a:t>
            </a:r>
            <a:endParaRPr lang="en-US" sz="1400" dirty="0"/>
          </a:p>
        </p:txBody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 xml:space="preserve">13 / 15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 xml:space="preserve"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450000"/>
            <a:ext cx="94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 xml:space="preserve">A free, explorable congestion map for Pune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5022850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5746750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533900"/>
            <a:ext cx="109725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 xml:space="preserve">Built openly.</a:t>
            </a: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 OpenStreetMap geometry and a TomTom-calibrated model, with no API keys or recurring cost.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585" y="5257800"/>
            <a:ext cx="109725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 xml:space="preserve">Explorable.</a:t>
            </a: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 28,535 road segments across a 365-day history and a 30-day forecast, with peaks, bottlenecks, and search.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5981700"/>
            <a:ext cx="109725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 xml:space="preserve">Ready to grow.</a:t>
            </a:r>
            <a:r>
              <a:rPr lang="en-US" sz="14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 The open foundation makes it simple to add real probe data, routing, and more localities.</a:t>
            </a:r>
            <a:endParaRPr lang="en-US" sz="1400" dirty="0"/>
          </a:p>
        </p:txBody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 xml:space="preserve">14 / 15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7413"/>
            <a:ext cx="10972526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42" kern="100" dirty="0">
                <a:solidFill>
                  <a:srgbClr val="141414"/>
                </a:solidFill>
                <a:latin typeface="Hanken Grotesk Light" pitchFamily="34" charset="0"/>
                <a:ea typeface="Hanken Grotesk Light" pitchFamily="34" charset="-122"/>
                <a:cs typeface="Hanken Grotesk Light" pitchFamily="34" charset="-120"/>
              </a:rPr>
              <a:t xml:space="preserve"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329329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6800" y="1299329"/>
            <a:ext cx="10645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OpenStreetMap contributors. OpenStreetMap: open road and map data, licensed under the ODbL. openstreetmap.org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1799329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994329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6800" y="1964329"/>
            <a:ext cx="10645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TomTom. TomTom Traffic Index, Pune 2025. tomtom.com/traffic-index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585" y="2464329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2659329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6800" y="2629329"/>
            <a:ext cx="10645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Geofabrik GmbH. OpenStreetMap data extract, India: Western Zone. download.geofabrik.de/asia/india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5" y="3129329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585" y="3324329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6800" y="3294329"/>
            <a:ext cx="10645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Agafonkin, V. Leaflet: an open-source JavaScript library for interactive maps (v1.9.4). leafletjs.com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585" y="3794329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3989329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6800" y="3959329"/>
            <a:ext cx="10645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Ramírez, S. FastAPI: modern, fast web framework for building APIs with Python. fastapi.tiangolo.com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585" y="4459329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4654329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6800" y="4624329"/>
            <a:ext cx="10645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Tenkanen, H. Pyrosm: reading OpenStreetMap PBF data into GeoDataFrames. pyrosm.readthedocs.io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585" y="5124329"/>
            <a:ext cx="10972526" cy="12700"/>
          </a:xfrm>
          <a:prstGeom prst="rect">
            <a:avLst/>
          </a:prstGeom>
          <a:solidFill>
            <a:srgbClr val="C8C5BE"/>
          </a:solidFill>
          <a:ln/>
        </p:spPr>
      </p:sp>
      <p:sp>
        <p:nvSpPr>
          <p:cNvPr id="21" name="Text 19"/>
          <p:cNvSpPr/>
          <p:nvPr/>
        </p:nvSpPr>
        <p:spPr>
          <a:xfrm>
            <a:off x="609585" y="5319329"/>
            <a:ext cx="7590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50" dirty="0">
                <a:solidFill>
                  <a:srgbClr val="6B696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07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6800" y="5289329"/>
            <a:ext cx="10645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 xml:space="preserve">Harris, C. R. et al. (2020). Array programming with NumPy. Nature, 585, 357–362.</a:t>
            </a:r>
            <a:endParaRPr lang="en-US" sz="1200" dirty="0"/>
          </a:p>
        </p:txBody>
      </p:sp>
      <p:sp>
        <p:nvSpPr>
          <p:cNvPr id="900" name="Cover"/>
          <p:cNvSpPr/>
          <p:nvPr/>
        </p:nvSpPr>
        <p:spPr>
          <a:xfrm>
            <a:off x="10990000" y="6480000"/>
            <a:ext cx="1202000" cy="378000"/>
          </a:xfrm>
          <a:prstGeom prst="rect">
            <a:avLst/>
          </a:prstGeom>
          <a:solidFill>
            <a:srgbClr val="F4F2ED"/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11347563" y="6570000"/>
            <a:ext cx="8441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6B696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 xml:space="preserve">15 / 15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2026-10-16T09:06:35Z</dcterms:created>
  <dcterms:modified xsi:type="dcterms:W3CDTF">2026-10-16T09:06:35Z</dcterms:modified>
</cp:coreProperties>
</file>